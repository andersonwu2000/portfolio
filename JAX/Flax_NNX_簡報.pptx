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7" r:id="rId8"/>
    <p:sldId id="260" r:id="rId9"/>
    <p:sldId id="262" r:id="rId10"/>
    <p:sldId id="261" r:id="rId11"/>
    <p:sldId id="266" r:id="rId12"/>
    <p:sldId id="263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6" r:id="rId30"/>
    <p:sldId id="287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363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56032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800" b="1" i="0" dirty="0">
                <a:solidFill>
                  <a:srgbClr val="FFFFFF"/>
                </a:solidFill>
                <a:latin typeface="Microsoft JhengHei"/>
                <a:ea typeface="Microsoft JhengHei"/>
              </a:rPr>
              <a:t>Flax NNX </a:t>
            </a:r>
            <a:r>
              <a:rPr sz="4800" b="1" i="0" dirty="0" err="1">
                <a:solidFill>
                  <a:srgbClr val="FFFFFF"/>
                </a:solidFill>
                <a:latin typeface="Microsoft JhengHei"/>
                <a:ea typeface="Microsoft JhengHei"/>
              </a:rPr>
              <a:t>簡介</a:t>
            </a:r>
            <a:endParaRPr sz="4800" b="1" i="0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33205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TW" altLang="en-US" sz="24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透過</a:t>
            </a:r>
            <a:r>
              <a:rPr sz="24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 JAX </a:t>
            </a:r>
            <a:r>
              <a:rPr lang="zh-TW" altLang="en-US" sz="2400" dirty="0">
                <a:solidFill>
                  <a:srgbClr val="CFDBEC"/>
                </a:solidFill>
                <a:latin typeface="Microsoft JhengHei"/>
                <a:ea typeface="Microsoft JhengHei"/>
              </a:rPr>
              <a:t>建立</a:t>
            </a:r>
            <a:r>
              <a:rPr sz="2400" b="0" i="0" dirty="0" err="1">
                <a:solidFill>
                  <a:srgbClr val="CFDBEC"/>
                </a:solidFill>
                <a:latin typeface="Microsoft JhengHei"/>
                <a:ea typeface="Microsoft JhengHei"/>
              </a:rPr>
              <a:t>神經網路</a:t>
            </a:r>
            <a:endParaRPr sz="2400" b="0" i="0" dirty="0">
              <a:solidFill>
                <a:srgbClr val="CFDBEC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6132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JAX </a:t>
            </a:r>
            <a:r>
              <a:rPr sz="18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數值計算</a:t>
            </a:r>
            <a:endParaRPr sz="18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8002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吳至堯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本日大綱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737360"/>
            <a:ext cx="1005840" cy="100584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83080"/>
            <a:ext cx="39917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dirty="0">
                <a:solidFill>
                  <a:srgbClr val="222222"/>
                </a:solidFill>
                <a:latin typeface="Microsoft JhengHei"/>
                <a:ea typeface="Microsoft JhengHei"/>
              </a:rPr>
              <a:t>NNX 核心觀念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3317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666666"/>
                </a:solidFill>
                <a:latin typeface="Microsoft JhengHei"/>
                <a:ea typeface="Microsoft JhengHei"/>
              </a:rPr>
              <a:t>Module、Param、Rngs，以及怎麼跨回純 JAX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08960"/>
            <a:ext cx="1005840" cy="100584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Jheng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546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222222"/>
                </a:solidFill>
                <a:latin typeface="Microsoft JhengHei"/>
                <a:ea typeface="Microsoft JhengHei"/>
              </a:rPr>
              <a:t>訓練流程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7033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666666"/>
                </a:solidFill>
                <a:latin typeface="Microsoft JhengHei"/>
                <a:ea typeface="Microsoft JhengHei"/>
              </a:rPr>
              <a:t>寫一個 train_step、LoRA 微調怎麼接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480560"/>
            <a:ext cx="1005840" cy="100584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Jheng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526280"/>
            <a:ext cx="18918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 dirty="0">
                <a:solidFill>
                  <a:srgbClr val="222222"/>
                </a:solidFill>
                <a:latin typeface="Microsoft JhengHei"/>
                <a:ea typeface="Microsoft JhengHei"/>
              </a:rPr>
              <a:t>MNIST</a:t>
            </a:r>
            <a:r>
              <a:rPr lang="zh-TW" altLang="en-US" sz="2400" b="1" i="0" dirty="0">
                <a:solidFill>
                  <a:srgbClr val="222222"/>
                </a:solidFill>
                <a:latin typeface="Microsoft JhengHei"/>
                <a:ea typeface="Microsoft JhengHei"/>
              </a:rPr>
              <a:t> 示範</a:t>
            </a:r>
            <a:endParaRPr sz="2400" b="1" i="0" dirty="0">
              <a:solidFill>
                <a:srgbClr val="222222"/>
              </a:solidFill>
              <a:latin typeface="Microsoft JhengHei"/>
              <a:ea typeface="Microsoft Jheng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4560" y="5074920"/>
            <a:ext cx="29899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TW" altLang="en-US"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從零跑一個 CNN，準確率達 99%</a:t>
            </a:r>
            <a:endParaRPr sz="15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i="0">
                <a:solidFill>
                  <a:srgbClr val="E8833A"/>
                </a:solidFill>
                <a:latin typeface="Calibri"/>
                <a:ea typeface="Microsoft JhengHei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91840"/>
            <a:ext cx="716253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icrosoft JhengHei"/>
                <a:ea typeface="Microsoft JhengHei"/>
              </a:rPr>
              <a:t>NNX</a:t>
            </a:r>
            <a:r>
              <a:rPr lang="zh-TW" altLang="en-US" sz="4400" b="1" dirty="0">
                <a:solidFill>
                  <a:srgbClr val="FFFFFF"/>
                </a:solidFill>
                <a:latin typeface="Microsoft JhengHei"/>
                <a:ea typeface="Microsoft JhengHei"/>
              </a:rPr>
              <a:t>：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</a:rPr>
              <a:t>Flax </a:t>
            </a:r>
            <a:r>
              <a:rPr lang="zh-TW" altLang="en-US" sz="4400" b="1" dirty="0">
                <a:solidFill>
                  <a:srgbClr val="FFFFFF"/>
                </a:solidFill>
                <a:latin typeface="Microsoft JhengHei"/>
                <a:ea typeface="Microsoft JhengHei"/>
              </a:rPr>
              <a:t>的神經網路 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</a:rPr>
              <a:t>API</a:t>
            </a:r>
            <a:endParaRPr sz="4400" b="1" i="0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29338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 dirty="0" err="1">
                <a:solidFill>
                  <a:srgbClr val="CFDBEC"/>
                </a:solidFill>
                <a:latin typeface="Microsoft JhengHei"/>
                <a:ea typeface="Microsoft JhengHei"/>
              </a:rPr>
              <a:t>動機、設計、Module</a:t>
            </a:r>
            <a:r>
              <a:rPr sz="18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 </a:t>
            </a:r>
            <a:r>
              <a:rPr lang="zh-TW" altLang="en-US" sz="18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簡介</a:t>
            </a:r>
            <a:endParaRPr sz="1800" b="0" i="0" dirty="0">
              <a:solidFill>
                <a:srgbClr val="CFDBEC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FDBEC"/>
                </a:solidFill>
                <a:latin typeface="Calibri"/>
                <a:ea typeface="Microsoft JhengHe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844690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為何需要 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Flax</a:t>
            </a:r>
            <a:r>
              <a:rPr lang="zh-TW" altLang="en-US" sz="3000" b="1" dirty="0">
                <a:solidFill>
                  <a:srgbClr val="1F3A68"/>
                </a:solidFill>
                <a:latin typeface="Microsoft JhengHei"/>
                <a:ea typeface="Microsoft JhengHei"/>
              </a:rPr>
              <a:t>？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43478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JAX 提供底層工具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jit、grad、vmap、NumPy 風格的張量運算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但 JAX 缺少抽象層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只用 JAX 寫神經網路，得處理很多雜事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參數樹、RNG key、BatchNorm running stats、optimizer state 都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要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自行串接管理</a:t>
            </a:r>
            <a:endParaRPr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Flax：把這些雜事整合好的官方框架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工業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：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Gemma 開源、Gemini / Imagen / Veo 內部應用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生態</a:t>
            </a:r>
            <a:r>
              <a:rPr lang="zh-TW" altLang="en-US" dirty="0">
                <a:solidFill>
                  <a:srgbClr val="666666"/>
                </a:solidFill>
                <a:latin typeface="Microsoft JhengHei"/>
                <a:ea typeface="Microsoft JhengHei"/>
              </a:rPr>
              <a:t>：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HuggingFace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Transformers、Scenic、Big Vision 都建立在 Flax 之上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246495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內建層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4820935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跟 PyTorch 類似，涵蓋常見的 </a:t>
            </a:r>
            <a:r>
              <a:rPr lang="en-US" altLang="zh-TW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Layer</a:t>
            </a: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：</a:t>
            </a: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•  全連接 / 卷積</a:t>
            </a: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nnx.Linear、nnx.Conv、nnx.ConvTranspose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•  正規化 / 正則化</a:t>
            </a: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nnx.BatchNorm、nnx.LayerNorm、nnx.Dropout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•  序列 / 注意力</a:t>
            </a: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nnx.LSTMCell、nnx.GRUCell、nnx.MultiHeadAttention、nnx.Embed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•  激活函數</a:t>
            </a: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nnx.relu、nnx.gelu、nnx.silu、nnx.softmax、nnx.tanh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br>
              <a:rPr lang="en-US" altLang="zh-TW" sz="2000" dirty="0">
                <a:solidFill>
                  <a:srgbClr val="222222"/>
                </a:solidFill>
                <a:latin typeface="Microsoft JhengHei"/>
                <a:ea typeface="Microsoft JhengHei"/>
              </a:rPr>
            </a:b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沒覆蓋到的可以直接把 jax.numpy 運算寫進 __call__</a:t>
            </a: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9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Demo：最小可跑的 Linear 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71600"/>
            <a:ext cx="10972800" cy="4754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10643616" cy="45354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jax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.numpy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as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from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flax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Eager init — params are created right away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linear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(in_features=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4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out_features=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rngs=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Rngs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Inspect params directly as attributes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print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(linear.kernel.value.shape)   </a:t>
            </a: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(4, 2)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print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(linear.bias.value.shape)     </a:t>
            </a: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(2,)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Forward pass — no .apply ceremony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x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ones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((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4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y = 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print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(y.shape)                     </a:t>
            </a: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(1, 2)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Visualize structure with Penzai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display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(linear)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6030946" cy="2154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對照 Linen：要先 .init() 拿 params，再 .apply(params, x) 跑 forward — NNX 一行解決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10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Demo：用 NNX 組一個 MLP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71600"/>
            <a:ext cx="10972800" cy="4754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10643616" cy="45354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MLP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.Module):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__init__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din, dhid, dout, *, rngs):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.fc1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(din, dhid, rngs=rngs)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.bn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BatchNorm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(dhid, rngs=rngs)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.drop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Dropout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0.2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rngs=rngs)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.fc2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(dhid, dout, rngs=rngs)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__call__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x):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fc1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bn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gelu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drop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5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fc2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model = 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MLP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784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256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10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, rngs=</a:t>
            </a: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Rngs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500" b="0" i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500" b="0" i="0">
                <a:solidFill>
                  <a:srgbClr val="DCDCAA"/>
                </a:solidFill>
                <a:latin typeface="Consolas"/>
                <a:ea typeface="Microsoft JhengHei"/>
              </a:rPr>
              <a:t>display</a:t>
            </a:r>
            <a:r>
              <a:rPr sz="1500" b="0" i="0">
                <a:solidFill>
                  <a:srgbClr val="E6E6E6"/>
                </a:solidFill>
                <a:latin typeface="Consolas"/>
                <a:ea typeface="Microsoft JhengHei"/>
              </a:rPr>
              <a:t>(model)   </a:t>
            </a:r>
            <a:r>
              <a:rPr sz="1500" b="0" i="0">
                <a:solidFill>
                  <a:srgbClr val="6A9955"/>
                </a:solidFill>
                <a:latin typeface="Consolas"/>
                <a:ea typeface="Microsoft JhengHei"/>
              </a:rPr>
              <a:t># see the full tree, params, shapes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93363" cy="2154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self.fc1、self.bn、self.drop — 跟 PyTorch 一樣，子模組就是 attribute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12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407617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從 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nn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到 NNX：API </a:t>
            </a:r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演進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427104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v1   flax.nn   —  早期實驗，已淘汰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v2   flax.linen (2020)  —  功能完整，但寫起來不像 Python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建模型分 init / apply 兩步，不像 PyTorch 一行建好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Dropout / BatchNorm 內部狀態要自己接進接出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沒辦法對子模組直接呼叫方法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v3   flax.nnx (2024)  —  Module 就是普通 Python 物件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參數即 attribute，可以印、可以改、可以共享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寫起來幾乎就是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PyTorch</a:t>
            </a:r>
            <a:b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</a:br>
            <a:endParaRPr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Linen 還在，但官方文件已預設使用 NNX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5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990666" cy="92333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Module：</a:t>
            </a:r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把參數和 </a:t>
            </a:r>
            <a:r>
              <a:rPr 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forward </a:t>
            </a:r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邏輯包在一起的</a:t>
            </a:r>
            <a:r>
              <a:rPr 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class </a:t>
            </a:r>
          </a:p>
          <a:p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4572000" cy="275960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寫法和 PyTorch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幾乎一樣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，</a:t>
            </a: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差異在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：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繼承 </a:t>
            </a:r>
            <a:r>
              <a:rPr sz="14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nnx.Module</a:t>
            </a:r>
            <a:endParaRPr lang="en-US" sz="14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lang="en-US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forward </a:t>
            </a:r>
            <a:r>
              <a:rPr lang="zh-TW" altLang="en-US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寫在 </a:t>
            </a:r>
            <a:r>
              <a:rPr lang="en-US" altLang="zh-TW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__</a:t>
            </a:r>
            <a:r>
              <a:rPr lang="en-US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call__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sz="14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建構時要把</a:t>
            </a:r>
            <a:r>
              <a:rPr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sz="14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rngs</a:t>
            </a:r>
            <a:r>
              <a:rPr lang="zh-TW" altLang="en-US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(</a:t>
            </a:r>
            <a:r>
              <a:rPr lang="zh-TW" altLang="en-US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隨機數派發器</a:t>
            </a:r>
            <a:r>
              <a:rPr lang="en-US" altLang="zh-TW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)</a:t>
            </a:r>
            <a:r>
              <a:rPr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sz="14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傳進去</a:t>
            </a:r>
            <a:br>
              <a:rPr lang="en-US"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</a:br>
            <a:endParaRPr sz="14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建好直接呼叫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model = MyModel(4, 2, rngs=nnx.Rngs(0))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4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y = model(x) — 沒有 init / apply 兩階段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6858000" cy="4937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481328"/>
            <a:ext cx="6528816" cy="4718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jax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.numpy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as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  <a:endParaRPr sz="1400" b="0" i="0" dirty="0">
              <a:solidFill>
                <a:srgbClr val="4EC9B0"/>
              </a:solidFill>
              <a:latin typeface="Consolas"/>
              <a:ea typeface="Microsoft JhengHei"/>
            </a:endParaRP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from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flax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endParaRPr sz="1400" b="0" i="0" dirty="0">
              <a:solidFill>
                <a:srgbClr val="4EC9B0"/>
              </a:solidFill>
              <a:latin typeface="Consolas"/>
              <a:ea typeface="Microsoft JhengHei"/>
            </a:endParaRP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MyModel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.Module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>
                <a:solidFill>
                  <a:srgbClr val="DCDCAA"/>
                </a:solidFill>
                <a:latin typeface="Consolas"/>
                <a:ea typeface="Microsoft JhengHei"/>
              </a:rPr>
              <a:t>__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init</a:t>
            </a:r>
            <a:r>
              <a:rPr sz="1400" b="0" i="0" dirty="0">
                <a:solidFill>
                  <a:srgbClr val="DCDCAA"/>
                </a:solidFill>
                <a:latin typeface="Consolas"/>
                <a:ea typeface="Microsoft JhengHei"/>
              </a:rPr>
              <a:t>__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din, 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dout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*, 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rngs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400" b="0" i="0" dirty="0" err="1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.linear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=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    din, 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dout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rngs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=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rngs</a:t>
            </a:r>
            <a:endParaRPr sz="1400" b="0" i="0" dirty="0">
              <a:solidFill>
                <a:srgbClr val="E6E6E6"/>
              </a:solidFill>
              <a:latin typeface="Consolas"/>
              <a:ea typeface="Microsoft JhengHei"/>
            </a:endParaRP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>
                <a:solidFill>
                  <a:srgbClr val="DCDCAA"/>
                </a:solidFill>
                <a:latin typeface="Consolas"/>
                <a:ea typeface="Microsoft JhengHei"/>
              </a:rPr>
              <a:t>__call__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x):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model = 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MyModel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4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rngs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=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Rngs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y = </a:t>
            </a:r>
            <a:r>
              <a:rPr sz="1400" b="0" i="0" dirty="0">
                <a:solidFill>
                  <a:srgbClr val="DCDCAA"/>
                </a:solidFill>
                <a:latin typeface="Consolas"/>
                <a:ea typeface="Microsoft JhengHei"/>
              </a:rPr>
              <a:t>model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ones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((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4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7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NNX 的四個設計原則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440543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Pythonic — 普通 class，attribute 可以改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self.fc1 = nnx.Linear(...) 跟 PyTorch 完全一樣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Explicit — 維度、隨機數都要明說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rngs=nnx.Rngs(0) 一次把所有亂源管起來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Eager — model = MyModel(rngs=...) 直接拿到能跑的模型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不像 Linen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要分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init / apply 兩階段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直接呼叫 — y = model(x) 就跑 forward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不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需要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model.apply({'params': ...}, x) 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endParaRPr lang="en-US"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寫法是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PyTorch，實際運行是 JAX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6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880841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Module</a:t>
            </a:r>
            <a:r>
              <a:rPr 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</a:t>
            </a:r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狀態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：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self.x.value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+=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4572000" cy="284885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Module 內部狀態可以直接改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self.x.value += 1 會被 NNX 記住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自訂狀態類別：繼承 nnx.Variable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Param、BatchStat、Count…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有了標籤就能依需求操作，如：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只對 Param 求梯度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只存 BatchStat 進 checkpoint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凍結某類參數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6858000" cy="4937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481328"/>
            <a:ext cx="6528816" cy="4718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Count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.Variable):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E9178"/>
                </a:solidFill>
                <a:latin typeface="Consolas"/>
                <a:ea typeface="Microsoft JhengHei"/>
              </a:rPr>
              <a:t>"""Forward counter."""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.Module):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__init__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din, dout, *, rngs):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.w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Param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   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jax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.random.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normal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(rngs.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params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(), (din, dout))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.count =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Count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array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__call__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x):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.count.value +=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</a:t>
            </a: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in-place update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x </a:t>
            </a:r>
            <a:r>
              <a:rPr sz="1300" b="0" i="0">
                <a:solidFill>
                  <a:srgbClr val="FFC080"/>
                </a:solidFill>
                <a:latin typeface="Consolas"/>
                <a:ea typeface="Microsoft JhengHei"/>
              </a:rPr>
              <a:t>@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.w.value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697248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核心物件：Param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</a:t>
            </a:r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和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Rngs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89709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nnx.Param — 「這個 array 是要訓練的」標籤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貼上之後：自動算梯度、被 optimizer 更新、進 checkpoint</a:t>
            </a:r>
            <a:endParaRPr lang="zh-TW" altLang="en-US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對應 PyTorch 的 nn.Parameter；取值寫 self.W.value</a:t>
            </a:r>
            <a:endParaRPr lang="zh-TW" altLang="en-US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nnx.Rngs — 隨機數派發器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JAX 沒有全域隨機數狀態（不像 PyTorch 偷藏一份），隨機數要顯式取得</a:t>
            </a:r>
            <a:endParaRPr lang="zh-TW" altLang="en-US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rngs.params() 給參數初始化、rngs.dropout() 給 dropout</a:t>
            </a:r>
            <a:endParaRPr lang="zh-TW" altLang="en-US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所有子 key 從 root key 衍生 → 同一 seed 結果可重現</a:t>
            </a:r>
            <a:endParaRPr lang="zh-TW" altLang="en-US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統一管理隨機數，方便 debug 和重現實驗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8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函式式 API：想用原生 jax.jit 時的橋樑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4572000" cy="390299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17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為什麼需要</a:t>
            </a:r>
            <a:r>
              <a:rPr lang="zh-TW" altLang="en-US"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函式式 </a:t>
            </a:r>
            <a:r>
              <a:rPr lang="en-US" altLang="zh-TW"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API</a:t>
            </a: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？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JAX 只懂「純函式 + PyTree」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Module 是可變物件，JAX 看不懂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三個工具：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split  → 把 Module 拆成 (架構, 數值)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merge  → 用 (架構, 數值) 重建 Module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update → 把新數值寫回原 Module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什麼時候會用到？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存 checkpoint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模型匯出 / </a:t>
            </a:r>
            <a:r>
              <a:rPr sz="15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跨環境部署</a:t>
            </a:r>
            <a:endParaRPr lang="zh-TW" altLang="en-US" sz="15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lang="en-US" altLang="zh-TW"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lang="zh-TW" altLang="en-US"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混搭原生 </a:t>
            </a:r>
            <a:r>
              <a:rPr lang="en-US" altLang="zh-TW" sz="15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jax.scan</a:t>
            </a:r>
            <a:r>
              <a:rPr lang="en-US" altLang="zh-TW" sz="15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/ </a:t>
            </a:r>
            <a:r>
              <a:rPr lang="en-US" altLang="zh-TW" sz="15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jax.pmap</a:t>
            </a:r>
            <a:endParaRPr lang="zh-TW" altLang="en-US" sz="15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6858000" cy="4937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481328"/>
            <a:ext cx="6528816" cy="4718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split structure from values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graphdef, params, bstats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split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model,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.Param,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.BatchStat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pure JAX-style function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C080"/>
                </a:solidFill>
                <a:latin typeface="Consolas"/>
                <a:ea typeface="Microsoft JhengHei"/>
              </a:rPr>
              <a:t>@jax.jit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forward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(graphdef, params, bstats, x):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m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merge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(graphdef, params, bstats)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m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write values back into the live model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update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(model, new_state)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i="0">
                <a:solidFill>
                  <a:srgbClr val="E8833A"/>
                </a:solidFill>
                <a:latin typeface="Calibri"/>
                <a:ea typeface="Microsoft JhengHe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918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訓練流程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CFDBEC"/>
                </a:solidFill>
                <a:latin typeface="Microsoft JhengHei"/>
                <a:ea typeface="Microsoft JhengHei"/>
              </a:rPr>
              <a:t>NNX 轉換、寫 train_step、LoRA 微調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FDBEC"/>
                </a:solidFill>
                <a:latin typeface="Calibri"/>
                <a:ea typeface="Microsoft JhengHe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921125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NNX 轉換：給 Module 用的 jit 跟 grad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86003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為什麼不直接用 @jax.jit？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純 JAX 看不懂 Module，要自己 split / merge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NNX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把這些雜事整合進轉換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裡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lang="en-US" altLang="zh-TW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@nnx.jit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：用法跟 </a:t>
            </a:r>
            <a:r>
              <a:rPr lang="en-US" altLang="zh-TW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@jax.jit 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一樣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額外效果：函式內對 self.x 的修改會傳回外面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nnx.value_and_grad</a:t>
            </a:r>
            <a:r>
              <a:rPr lang="zh-TW" altLang="en-US" sz="2000" dirty="0">
                <a:solidFill>
                  <a:srgbClr val="222222"/>
                </a:solidFill>
                <a:latin typeface="Microsoft JhengHei"/>
                <a:ea typeface="Microsoft JhengHei"/>
              </a:rPr>
              <a:t>：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一次拿到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loss + 梯度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寫法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：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loss, grads = nnx.value_and_grad(loss_fn)(model)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grads 結構自動對應 model 裡所有 nnx.Param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用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DiffState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篩選</a:t>
            </a:r>
            <a:r>
              <a:rPr lang="zh-TW" altLang="en-US" dirty="0">
                <a:solidFill>
                  <a:srgbClr val="666666"/>
                </a:solidFill>
                <a:latin typeface="Microsoft JhengHei"/>
                <a:ea typeface="Microsoft JhengHei"/>
              </a:rPr>
              <a:t>可以只訓練一部分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（LoRA 用得到）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554819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訓練迴圈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：</a:t>
            </a:r>
            <a:r>
              <a:rPr lang="zh-TW" altLang="en-US"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一個函式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37900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一個 train_step 函式，做四件事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1.  loss_fn(m) — 跑 forward、回傳 scalar loss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2.  loss, grads = nnx.value_and_grad(loss_fn)(model)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3.  optimizer.update(grads) — 更新權重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4.  return loss — 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讓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外層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可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追蹤訓練曲線</a:t>
            </a:r>
            <a:b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</a:br>
            <a:endParaRPr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相對於 PyTorch 的簡化：不需要 zero_grad 和分開的 backward / step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外面加 @nnx.jit 就能上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Demo：完整的 train_step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71600"/>
            <a:ext cx="10972800" cy="4754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10643616" cy="45354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  <a:endParaRPr sz="1400" b="0" i="0" dirty="0">
              <a:solidFill>
                <a:srgbClr val="4EC9B0"/>
              </a:solidFill>
              <a:latin typeface="Consolas"/>
              <a:ea typeface="Microsoft JhengHei"/>
            </a:endParaRP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optimizer =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Optimizer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(model,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adam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1e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-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Microsoft JhengHei"/>
              </a:rPr>
              <a:t>3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FFC080"/>
                </a:solidFill>
                <a:latin typeface="Consolas"/>
                <a:ea typeface="Microsoft JhengHei"/>
              </a:rPr>
              <a:t>@nnx.jit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train_step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(model, optimizer, batch):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loss_fn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(m):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logits = </a:t>
            </a:r>
            <a:r>
              <a:rPr sz="1400" b="0" i="0" dirty="0">
                <a:solidFill>
                  <a:srgbClr val="DCDCAA"/>
                </a:solidFill>
                <a:latin typeface="Consolas"/>
                <a:ea typeface="Microsoft JhengHei"/>
              </a:rPr>
              <a:t>m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(batch[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Microsoft JhengHei"/>
              </a:rPr>
              <a:t>"x"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softmax_cross_entropy_with_integer_labels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    logits, batch[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Microsoft JhengHei"/>
              </a:rPr>
              <a:t>"y"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    ).</a:t>
            </a:r>
            <a:r>
              <a:rPr sz="1400" b="0" i="0" dirty="0">
                <a:solidFill>
                  <a:srgbClr val="DCDCAA"/>
                </a:solidFill>
                <a:latin typeface="Consolas"/>
                <a:ea typeface="Microsoft JhengHei"/>
              </a:rPr>
              <a:t>mean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loss, grads = </a:t>
            </a:r>
            <a:r>
              <a:rPr sz="14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value_and_grad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loss_fn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)(model)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4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optimizer.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update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(grads)        </a:t>
            </a:r>
            <a:r>
              <a:rPr sz="1400" b="0" i="0" dirty="0">
                <a:solidFill>
                  <a:srgbClr val="6A9955"/>
                </a:solidFill>
                <a:latin typeface="Consolas"/>
                <a:ea typeface="Microsoft JhengHei"/>
              </a:rPr>
              <a:t># in-place update on model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loss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for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batch </a:t>
            </a:r>
            <a:r>
              <a:rPr sz="1400" b="0" i="0" dirty="0">
                <a:solidFill>
                  <a:srgbClr val="C586C0"/>
                </a:solidFill>
                <a:latin typeface="Consolas"/>
                <a:ea typeface="Microsoft JhengHei"/>
              </a:rPr>
              <a:t>in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dataset: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    loss = </a:t>
            </a:r>
            <a:r>
              <a:rPr sz="14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train_step</a:t>
            </a:r>
            <a:r>
              <a:rPr sz="1400" b="0" i="0" dirty="0">
                <a:solidFill>
                  <a:srgbClr val="E6E6E6"/>
                </a:solidFill>
                <a:latin typeface="Consolas"/>
                <a:ea typeface="Microsoft JhengHei"/>
              </a:rPr>
              <a:t>(model, optimizer, batch)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6546472" cy="2154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比 </a:t>
            </a:r>
            <a:r>
              <a:rPr sz="1400" b="0" i="1" dirty="0" err="1">
                <a:solidFill>
                  <a:srgbClr val="666666"/>
                </a:solidFill>
                <a:latin typeface="Microsoft JhengHei"/>
                <a:ea typeface="Microsoft JhengHei"/>
              </a:rPr>
              <a:t>PyTorch</a:t>
            </a:r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sz="1400" b="0" i="1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少寫</a:t>
            </a:r>
            <a:r>
              <a:rPr lang="zh-TW" altLang="en-US"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：</a:t>
            </a:r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 </a:t>
            </a:r>
            <a:r>
              <a:rPr sz="1400" b="0" i="1" dirty="0" err="1">
                <a:solidFill>
                  <a:srgbClr val="666666"/>
                </a:solidFill>
                <a:latin typeface="Microsoft JhengHei"/>
                <a:ea typeface="Microsoft JhengHei"/>
              </a:rPr>
              <a:t>zero_grad、分開的</a:t>
            </a:r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 backward + step（</a:t>
            </a:r>
            <a:r>
              <a:rPr lang="zh-TW" altLang="en-US"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透過</a:t>
            </a:r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 update </a:t>
            </a:r>
            <a:r>
              <a:rPr lang="zh-TW" altLang="en-US"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整合</a:t>
            </a:r>
            <a:r>
              <a:rPr sz="1400" b="0" i="1" dirty="0">
                <a:solidFill>
                  <a:srgbClr val="666666"/>
                </a:solidFill>
                <a:latin typeface="Microsoft JhengHei"/>
                <a:ea typeface="Microsoft JhengHei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554819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自動傳遞的內部狀態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808735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跑一次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train_step，下列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會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自動更新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：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BatchNorm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的 running mean / variance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Dropout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內部的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RNG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狀態</a:t>
            </a:r>
            <a:endParaRPr lang="zh-TW" altLang="en-US"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lang="en-US" altLang="zh-TW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</a:t>
            </a: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Optimizer 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的 </a:t>
            </a: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step 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計數、</a:t>
            </a: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Adam </a:t>
            </a:r>
            <a:r>
              <a:rPr lang="zh-TW" alt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動量、</a:t>
            </a:r>
            <a:r>
              <a:rPr lang="en-US"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lr</a:t>
            </a:r>
            <a: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schedule…</a:t>
            </a:r>
            <a:b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</a:br>
            <a:endParaRPr lang="en-US"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做法：NNX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Module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是可變物件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→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原地改就好</a:t>
            </a:r>
            <a:endParaRPr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對照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Linen 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寫法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：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Linen   state =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state.replace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(params=…,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batch_stats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=…,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opt_state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=…)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NNX    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optimizer.update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(grads)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418098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對照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PyTorch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步驟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PyTorch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Flax NNX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前向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logits = model(x)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logits = model(x)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損失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loss = criterion(logits, y)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寫在 loss_fn(model) 內回傳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反向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loss.backward()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nnx.value_and_grad(loss_fn)(model)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清梯度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optimizer.zero_grad()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不需要（不累積）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更新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optimizer.step()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optimizer.update(grads)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編譯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torch.compile(model)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@nnx.jit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19 / 30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1FE54B-29D5-EE70-80CA-37F039DD38C4}"/>
              </a:ext>
            </a:extLst>
          </p:cNvPr>
          <p:cNvSpPr txBox="1"/>
          <p:nvPr/>
        </p:nvSpPr>
        <p:spPr>
          <a:xfrm>
            <a:off x="640080" y="4647352"/>
            <a:ext cx="6138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Microsoft JhengHei"/>
                <a:ea typeface="Microsoft JhengHei"/>
              </a:rPr>
              <a:t>訓練迴圈幾乎一模一樣</a:t>
            </a:r>
            <a:endParaRPr lang="zh-TW" altLang="en-US"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234766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LoRA：在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 NNX 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裡只是換屬性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86003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LoRA 是大模型微調的常見技巧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原版微調訓練所有參數，慢且耗記憶體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LoRA 凍結原權重，只訓練兩個低秩小矩陣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數學上：原本 y = Wx，改成 y = Wx + BAx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A、B 是低秩矩陣，可訓練參數量降到 ~1%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在 NNX 裡為什麼更輕量？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Module 是可變物件 → 直接替換屬性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model.linear = LoraLinear(model.linear, rank=4)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怎麼凍結原權重？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給 A、B 貼新標籤:  class LoraParam(nnx.Variable)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DiffState 只挑 LoraParam → 其他自動凍結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Demo：LoRA 實作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10643616" cy="4809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LoraParam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.Variable):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E9178"/>
                </a:solidFill>
                <a:latin typeface="Consolas"/>
                <a:ea typeface="Microsoft JhengHei"/>
              </a:rPr>
              <a:t>"""Trainable, but separable from the base nnx.Param."""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LoraLinear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.Module):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__init__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base: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.Linear, rank: int, *, rngs):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.base = base                       </a:t>
            </a: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frozen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din, dout = base.in_features, base.out_features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.A =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LoraParam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jax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.random.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normal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(rngs.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params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(), (din, rank)) *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0.01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.B =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LoraParam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zeros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((rank, dout)))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__call__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x):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base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(x) + (x </a:t>
            </a:r>
            <a:r>
              <a:rPr sz="1300" b="0" i="0">
                <a:solidFill>
                  <a:srgbClr val="FFC080"/>
                </a:solidFill>
                <a:latin typeface="Consolas"/>
                <a:ea typeface="Microsoft JhengHei"/>
              </a:rPr>
              <a:t>@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.A.value) </a:t>
            </a:r>
            <a:r>
              <a:rPr sz="1300" b="0" i="0">
                <a:solidFill>
                  <a:srgbClr val="FFC080"/>
                </a:solidFill>
                <a:latin typeface="Consolas"/>
                <a:ea typeface="Microsoft JhengHei"/>
              </a:rPr>
              <a:t>@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.B.value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Surgery — swap one attribute on the live model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model.linear =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LoraLinear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(model.linear, rank=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4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rngs=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Rngs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A9955"/>
                </a:solidFill>
                <a:latin typeface="Consolas"/>
                <a:ea typeface="Microsoft JhengHei"/>
              </a:rPr>
              <a:t># Only train LoRA params; freeze the rest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diff_state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DiffState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All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(LoraParam))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loss, grads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value_and_grad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(loss_fn, argnums=diff_state)(model)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301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24261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進階轉換</a:t>
            </a:r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：</a:t>
            </a:r>
            <a:r>
              <a:rPr lang="zh-TW" altLang="en-US" sz="3000" b="1" dirty="0">
                <a:solidFill>
                  <a:srgbClr val="1F3A68"/>
                </a:solidFill>
                <a:latin typeface="Microsoft JhengHei"/>
                <a:ea typeface="Microsoft JhengHei"/>
              </a:rPr>
              <a:t>適用於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大模型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00954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nnx.vmap — 批次化模型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同一個架構，多組參數並行運行:  model ensemble、超參數掃描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nnx.scan — 把堆疊的相同層折成迴圈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Transformer / ResNet 這種 N 層重複特別有用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XLA 編譯時間和記憶體都會大幅下降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@nnx.split_rngs — 把 RNG 切 N 條獨立流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給 vmap / scan 內部每個 step 用獨立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i="0">
                <a:solidFill>
                  <a:srgbClr val="E8833A"/>
                </a:solidFill>
                <a:latin typeface="Calibri"/>
                <a:ea typeface="Microsoft JhengHei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91840"/>
            <a:ext cx="331372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icrosoft JhengHei"/>
                <a:ea typeface="Microsoft JhengHei"/>
              </a:rPr>
              <a:t>MNIST</a:t>
            </a:r>
            <a:r>
              <a:rPr lang="zh-TW" altLang="en-US" sz="4400" b="1" i="0" dirty="0">
                <a:solidFill>
                  <a:srgbClr val="FFFFFF"/>
                </a:solidFill>
                <a:latin typeface="Microsoft JhengHei"/>
                <a:ea typeface="Microsoft JhengHei"/>
              </a:rPr>
              <a:t> 示範</a:t>
            </a:r>
            <a:endParaRPr sz="4400" b="1" i="0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40655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從零訓練一個 CNN，</a:t>
            </a:r>
            <a:r>
              <a:rPr lang="zh-TW" altLang="en-US" sz="18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分類準確率 </a:t>
            </a:r>
            <a:r>
              <a:rPr lang="en-US" altLang="zh-TW" sz="1800" b="0" i="0" dirty="0">
                <a:solidFill>
                  <a:srgbClr val="CFDBEC"/>
                </a:solidFill>
                <a:latin typeface="Microsoft JhengHei"/>
                <a:ea typeface="Microsoft JhengHei"/>
              </a:rPr>
              <a:t>99%</a:t>
            </a:r>
            <a:endParaRPr sz="1800" b="0" i="0" dirty="0">
              <a:solidFill>
                <a:srgbClr val="CFDBEC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FDBEC"/>
                </a:solidFill>
                <a:latin typeface="Calibri"/>
                <a:ea typeface="Microsoft JhengHe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Step 1：資料載入與預處理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4572000" cy="240617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用 </a:t>
            </a:r>
            <a:r>
              <a:rPr sz="17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tensorflow_datasets</a:t>
            </a:r>
            <a:r>
              <a:rPr lang="zh-TW" altLang="en-US" sz="1700" dirty="0">
                <a:solidFill>
                  <a:srgbClr val="222222"/>
                </a:solidFill>
                <a:latin typeface="Microsoft JhengHei"/>
                <a:ea typeface="Microsoft JhengHei"/>
              </a:rPr>
              <a:t> </a:t>
            </a: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讀</a:t>
            </a:r>
            <a:r>
              <a:rPr lang="zh-TW" altLang="en-US"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取</a:t>
            </a: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MNIST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60,000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張訓練</a:t>
            </a: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 / 10,000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張測試</a:t>
            </a:r>
            <a:endParaRPr sz="1500" b="0" i="0" dirty="0">
              <a:solidFill>
                <a:schemeClr val="bg1">
                  <a:lumMod val="50000"/>
                </a:schemeClr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28×28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灰階手寫數字</a:t>
            </a:r>
            <a:br>
              <a:rPr lang="en-US"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</a:br>
            <a:endParaRPr sz="1500" b="0" i="0" dirty="0">
              <a:solidFill>
                <a:schemeClr val="bg1">
                  <a:lumMod val="50000"/>
                </a:schemeClr>
              </a:solidFill>
              <a:latin typeface="Microsoft JhengHei"/>
              <a:ea typeface="Microsoft JhengHei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17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預處理只做兩件事</a:t>
            </a:r>
            <a:endParaRPr sz="17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像素</a:t>
            </a: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 0–255 → 0.0–1.0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shuffle + batch(32) + prefetch</a:t>
            </a:r>
            <a:endParaRPr lang="en-US" sz="1500" b="0" i="0" dirty="0">
              <a:solidFill>
                <a:schemeClr val="bg1">
                  <a:lumMod val="50000"/>
                </a:schemeClr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6858000" cy="4937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481328"/>
            <a:ext cx="6528816" cy="4718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tensorflow_datasets </a:t>
            </a: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as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tfds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normalize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(sample):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"image"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: tf.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cast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(sample[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"image"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], tf.float32) / 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255.0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"label"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: sample[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"label"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],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train_ds = (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tfds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load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"mnist"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, split=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"train"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, as_supervised=</a:t>
            </a: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False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map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(normalize)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shuffle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1024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batch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32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prefetch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test_ds =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tfds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load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"mnist"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, split=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"test"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map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(normalize).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batch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32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Step 2：CNN 架構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767185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Microsoft JhengHei"/>
                <a:ea typeface="Microsoft JhengHei"/>
              </a:rPr>
              <a:t>卷積概念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：</a:t>
            </a:r>
            <a:endParaRPr sz="2000" b="0" i="0" dirty="0">
              <a:solidFill>
                <a:srgbClr val="222222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Filter —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一個小窗滑過影像，抓局部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pattern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Feature map —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每個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filter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對輸入的響應圖</a:t>
            </a:r>
            <a:endParaRPr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Pooling —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降採樣，給模型平移容忍度</a:t>
            </a:r>
            <a:br>
              <a:rPr lang="en-US"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</a:br>
            <a:endParaRPr sz="1800" b="0" i="0" dirty="0">
              <a:solidFill>
                <a:srgbClr val="666666"/>
              </a:solidFill>
              <a:latin typeface="Microsoft JhengHei"/>
              <a:ea typeface="Microsoft JhengHei"/>
            </a:endParaRP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示範用小型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 CNN（28×28 → 10 </a:t>
            </a:r>
            <a:r>
              <a:rPr lang="zh-TW" altLang="en-US"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個分</a:t>
            </a: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類）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Conv 1→32 (3×3) →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ReLU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→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AvgPool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  (28→14)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Conv 32→64 (3×3) → BN →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ReLU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→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AvgPool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  (14→7)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Flatten → Linear → Dropout → </a:t>
            </a:r>
            <a:r>
              <a:rPr sz="1800" b="0" i="0" dirty="0" err="1">
                <a:solidFill>
                  <a:srgbClr val="666666"/>
                </a:solidFill>
                <a:latin typeface="Microsoft JhengHei"/>
                <a:ea typeface="Microsoft JhengHei"/>
              </a:rPr>
              <a:t>ReLU</a:t>
            </a: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 → Linear → 10 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Demo：CNN 定義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10643616" cy="4809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class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CNN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.Module):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__init__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*, rngs):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.conv1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Conv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32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kernel_size=(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3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3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), rngs=rngs)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.conv2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Conv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32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64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kernel_size=(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3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3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), rngs=rngs)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.bn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BatchNorm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64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rngs=rngs)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.drop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Dropout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0.25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rngs=rngs)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.fc1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7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*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7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*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64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256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rngs=rngs)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.fc2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Linear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256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10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rngs=rngs)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__call__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x):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avg_pool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relu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conv1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(x)), 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), strides=(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avg_pool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relu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bn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conv2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(x))), 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), strides=(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x = x.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reshape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(x.shape[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], -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x =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drop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relu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fc1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(x)))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300" b="0" i="0">
                <a:solidFill>
                  <a:srgbClr val="C586C0"/>
                </a:solidFill>
                <a:latin typeface="Consolas"/>
                <a:ea typeface="Microsoft JhengHei"/>
              </a:rPr>
              <a:t>self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fc2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(x)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model = 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CNN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(rngs=</a:t>
            </a:r>
            <a:r>
              <a:rPr sz="13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300" b="0" i="0">
                <a:solidFill>
                  <a:srgbClr val="DCDCAA"/>
                </a:solidFill>
                <a:latin typeface="Consolas"/>
                <a:ea typeface="Microsoft JhengHei"/>
              </a:rPr>
              <a:t>Rngs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300" b="0" i="0">
                <a:solidFill>
                  <a:srgbClr val="B5CEA8"/>
                </a:solidFill>
                <a:latin typeface="Consolas"/>
                <a:ea typeface="Microsoft JhengHei"/>
              </a:rPr>
              <a:t>0</a:t>
            </a:r>
            <a:r>
              <a:rPr sz="1300" b="0" i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746667" cy="46166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 dirty="0">
                <a:solidFill>
                  <a:srgbClr val="1F3A68"/>
                </a:solidFill>
                <a:latin typeface="Microsoft JhengHei"/>
                <a:ea typeface="Microsoft JhengHei"/>
              </a:rPr>
              <a:t>Step 3：訓練 vs </a:t>
            </a:r>
            <a:r>
              <a:rPr sz="3000" b="1" i="0" dirty="0" err="1">
                <a:solidFill>
                  <a:srgbClr val="1F3A68"/>
                </a:solidFill>
                <a:latin typeface="Microsoft JhengHei"/>
                <a:ea typeface="Microsoft JhengHei"/>
              </a:rPr>
              <a:t>推論</a:t>
            </a:r>
            <a:endParaRPr sz="3000" b="1" i="0" dirty="0">
              <a:solidFill>
                <a:srgbClr val="1F3A68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3005053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為什麼要切換模式？這兩種層在訓練 / 推論行為不一樣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Dropout — 訓練時隨機丟棄部分神經元、推論時全部保留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BatchNorm — 訓練用 batch 統計、推論用累積的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NNX 的切換方法：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model.train() / model.eval() — 跟 PyTorch 一樣，一次切整個模型</a:t>
            </a:r>
          </a:p>
          <a:p>
            <a:pPr lvl="1">
              <a:lnSpc>
                <a:spcPct val="135000"/>
              </a:lnSpc>
              <a:spcAft>
                <a:spcPts val="400"/>
              </a:spcAft>
            </a:pPr>
            <a:r>
              <a:rPr sz="1800" b="0" i="0" dirty="0">
                <a:solidFill>
                  <a:srgbClr val="666666"/>
                </a:solidFill>
                <a:latin typeface="Microsoft JhengHei"/>
                <a:ea typeface="Microsoft JhengHei"/>
              </a:rPr>
              <a:t>–  或在 __call__ 顯式傳 deterministic=True/False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20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警告：如果沒切 eval，Dropout 還在隨機丟棄，預測結果會無法重現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Step 4：訓練設定與預期結果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4572000" cy="281551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Optimizer — optax.adamw (lr=5e-3) + cosine LR 衰減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Adam + weight decay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Loss — softmax cross-entropy（label 整數）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訓練:  3,000 步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評估:  每 500 步看 train / test accuracy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結果:  ~99% test accuracy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CPU 也能在幾分鐘跑完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6858000" cy="4937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481328"/>
            <a:ext cx="6528816" cy="4718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import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schedule =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cosine_decay_schedule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5e-3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3000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, alpha=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0.02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opt =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Optimizer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model,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adamw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(schedule, b1=</a:t>
            </a:r>
            <a:r>
              <a:rPr sz="1200" b="0" i="0">
                <a:solidFill>
                  <a:srgbClr val="B5CEA8"/>
                </a:solidFill>
                <a:latin typeface="Consolas"/>
                <a:ea typeface="Microsoft JhengHei"/>
              </a:rPr>
              <a:t>0.9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080"/>
                </a:solidFill>
                <a:latin typeface="Consolas"/>
                <a:ea typeface="Microsoft JhengHei"/>
              </a:rPr>
              <a:t>@nnx.jit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train_step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(model, opt, batch):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loss_fn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(m):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    logits = 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m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(batch[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"image"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    </a:t>
            </a: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optax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softmax_cross_entropy_with_integer_labels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        logits, batch[</a:t>
            </a:r>
            <a:r>
              <a:rPr sz="1200" b="0" i="0">
                <a:solidFill>
                  <a:srgbClr val="CE9178"/>
                </a:solidFill>
                <a:latin typeface="Consolas"/>
                <a:ea typeface="Microsoft JhengHei"/>
              </a:rPr>
              <a:t>"label"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    ).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mean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loss, grads = </a:t>
            </a:r>
            <a:r>
              <a:rPr sz="1200" b="0" i="0">
                <a:solidFill>
                  <a:srgbClr val="4EC9B0"/>
                </a:solidFill>
                <a:latin typeface="Consolas"/>
                <a:ea typeface="Microsoft JhengHei"/>
              </a:rPr>
              <a:t>nnx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value_and_grad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(loss_fn)(model)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opt.</a:t>
            </a:r>
            <a:r>
              <a:rPr sz="1200" b="0" i="0">
                <a:solidFill>
                  <a:srgbClr val="DCDCAA"/>
                </a:solidFill>
                <a:latin typeface="Consolas"/>
                <a:ea typeface="Microsoft JhengHei"/>
              </a:rPr>
              <a:t>update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(grads)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200" b="0" i="0">
                <a:solidFill>
                  <a:srgbClr val="E6E6E6"/>
                </a:solidFill>
                <a:latin typeface="Consolas"/>
                <a:ea typeface="Microsoft JhengHei"/>
              </a:rPr>
              <a:t>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Step 5：推論與結果視覺化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4572000" cy="236616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推論模式做預測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model.eval() 關掉 Dropout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jnp.argmax</a:t>
            </a: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取最大機率類別</a:t>
            </a:r>
            <a:br>
              <a:rPr lang="en-US" sz="1500" b="0" i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</a:br>
            <a:endParaRPr sz="1500" b="0" i="0" dirty="0">
              <a:solidFill>
                <a:schemeClr val="bg1">
                  <a:lumMod val="50000"/>
                </a:schemeClr>
              </a:solidFill>
              <a:latin typeface="Microsoft JhengHei"/>
              <a:ea typeface="Microsoft JhengHei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6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5×5 grid 看模型實際表現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哪些字會被誤判？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4 vs 9、7 vs 1、極潦草的數字…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6858000" cy="4937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481328"/>
            <a:ext cx="3908121" cy="31719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 dirty="0">
                <a:solidFill>
                  <a:srgbClr val="6A9955"/>
                </a:solidFill>
                <a:latin typeface="Consolas"/>
                <a:ea typeface="Microsoft JhengHei"/>
              </a:rPr>
              <a:t># </a:t>
            </a:r>
            <a:r>
              <a:rPr lang="en-US" sz="1200" dirty="0">
                <a:solidFill>
                  <a:srgbClr val="6A9955"/>
                </a:solidFill>
                <a:latin typeface="Consolas"/>
                <a:ea typeface="Microsoft JhengHei"/>
              </a:rPr>
              <a:t>Inference on a batch</a:t>
            </a:r>
            <a:endParaRPr sz="1200" b="0" i="0" dirty="0">
              <a:solidFill>
                <a:srgbClr val="6A9955"/>
              </a:solidFill>
              <a:latin typeface="Consolas"/>
              <a:ea typeface="Microsoft JhengHei"/>
            </a:endParaRP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C586C0"/>
                </a:solidFill>
                <a:latin typeface="Consolas"/>
                <a:ea typeface="Microsoft JhengHei"/>
              </a:rPr>
              <a:t>def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pred_step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(model, batch):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model.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eval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logits = </a:t>
            </a:r>
            <a:r>
              <a:rPr sz="1200" b="0" i="0" dirty="0">
                <a:solidFill>
                  <a:srgbClr val="DCDCAA"/>
                </a:solidFill>
                <a:latin typeface="Consolas"/>
                <a:ea typeface="Microsoft JhengHei"/>
              </a:rPr>
              <a:t>model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(batch[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Microsoft JhengHei"/>
              </a:rPr>
              <a:t>"image"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 dirty="0">
                <a:solidFill>
                  <a:srgbClr val="C586C0"/>
                </a:solidFill>
                <a:latin typeface="Consolas"/>
                <a:ea typeface="Microsoft JhengHei"/>
              </a:rPr>
              <a:t>return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jnp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argmax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(logits, axis=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Microsoft JhengHei"/>
              </a:rPr>
              <a:t>-1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6A9955"/>
                </a:solidFill>
                <a:latin typeface="Consolas"/>
                <a:ea typeface="Microsoft JhengHei"/>
              </a:rPr>
              <a:t># </a:t>
            </a:r>
            <a:r>
              <a:rPr lang="en-US" sz="1200">
                <a:solidFill>
                  <a:srgbClr val="6A9955"/>
                </a:solidFill>
                <a:latin typeface="Consolas"/>
                <a:ea typeface="Microsoft JhengHei"/>
              </a:rPr>
              <a:t>Visualize predictions in a 5×5 grid</a:t>
            </a:r>
            <a:endParaRPr sz="1200" b="0" i="0" dirty="0">
              <a:solidFill>
                <a:srgbClr val="6A9955"/>
              </a:solidFill>
              <a:latin typeface="Consolas"/>
              <a:ea typeface="Microsoft JhengHei"/>
            </a:endParaRP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preds = 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pred_step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(model,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test_batch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fig, axes = </a:t>
            </a:r>
            <a:r>
              <a:rPr sz="12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plt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subplots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Microsoft JhengHei"/>
              </a:rPr>
              <a:t>5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Microsoft JhengHei"/>
              </a:rPr>
              <a:t>5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figsize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=(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Microsoft JhengHei"/>
              </a:rPr>
              <a:t>8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200" b="0" i="0" dirty="0">
                <a:solidFill>
                  <a:srgbClr val="B5CEA8"/>
                </a:solidFill>
                <a:latin typeface="Consolas"/>
                <a:ea typeface="Microsoft JhengHei"/>
              </a:rPr>
              <a:t>8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C586C0"/>
                </a:solidFill>
                <a:latin typeface="Consolas"/>
                <a:ea typeface="Microsoft JhengHei"/>
              </a:rPr>
              <a:t>for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i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, ax </a:t>
            </a:r>
            <a:r>
              <a:rPr sz="1200" b="0" i="0" dirty="0">
                <a:solidFill>
                  <a:srgbClr val="C586C0"/>
                </a:solidFill>
                <a:latin typeface="Consolas"/>
                <a:ea typeface="Microsoft JhengHei"/>
              </a:rPr>
              <a:t>in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</a:t>
            </a:r>
            <a:r>
              <a:rPr sz="1200" b="0" i="0" dirty="0">
                <a:solidFill>
                  <a:srgbClr val="DCDCAA"/>
                </a:solidFill>
                <a:latin typeface="Consolas"/>
                <a:ea typeface="Microsoft JhengHei"/>
              </a:rPr>
              <a:t>enumerate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axes.flat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img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=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test_batch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[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Microsoft JhengHei"/>
              </a:rPr>
              <a:t>"image"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][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i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].</a:t>
            </a:r>
            <a:r>
              <a:rPr sz="1200" b="0" i="0" dirty="0">
                <a:solidFill>
                  <a:srgbClr val="DCDCAA"/>
                </a:solidFill>
                <a:latin typeface="Consolas"/>
                <a:ea typeface="Microsoft JhengHei"/>
              </a:rPr>
              <a:t>squeeze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ax.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imshow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img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,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cmap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=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Microsoft JhengHei"/>
              </a:rPr>
              <a:t>"gray"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ax.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set_title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 dirty="0" err="1">
                <a:solidFill>
                  <a:srgbClr val="CE9178"/>
                </a:solidFill>
                <a:latin typeface="Consolas"/>
                <a:ea typeface="Microsoft JhengHei"/>
              </a:rPr>
              <a:t>f"pred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Microsoft JhengHei"/>
              </a:rPr>
              <a:t>: {preds[</a:t>
            </a:r>
            <a:r>
              <a:rPr sz="1200" b="0" i="0" dirty="0" err="1">
                <a:solidFill>
                  <a:srgbClr val="CE9178"/>
                </a:solidFill>
                <a:latin typeface="Consolas"/>
                <a:ea typeface="Microsoft JhengHei"/>
              </a:rPr>
              <a:t>i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Microsoft JhengHei"/>
              </a:rPr>
              <a:t>]}"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    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ax.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axis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</a:t>
            </a:r>
            <a:r>
              <a:rPr sz="1200" b="0" i="0" dirty="0">
                <a:solidFill>
                  <a:srgbClr val="CE9178"/>
                </a:solidFill>
                <a:latin typeface="Consolas"/>
                <a:ea typeface="Microsoft JhengHei"/>
              </a:rPr>
              <a:t>"off"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plt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tight_layout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(); </a:t>
            </a:r>
            <a:r>
              <a:rPr sz="1200" b="0" i="0" dirty="0" err="1">
                <a:solidFill>
                  <a:srgbClr val="4EC9B0"/>
                </a:solidFill>
                <a:latin typeface="Consolas"/>
                <a:ea typeface="Microsoft JhengHei"/>
              </a:rPr>
              <a:t>plt</a:t>
            </a:r>
            <a:r>
              <a:rPr sz="1200" b="0" i="0" dirty="0" err="1">
                <a:solidFill>
                  <a:srgbClr val="E6E6E6"/>
                </a:solidFill>
                <a:latin typeface="Consolas"/>
                <a:ea typeface="Microsoft JhengHei"/>
              </a:rPr>
              <a:t>.</a:t>
            </a:r>
            <a:r>
              <a:rPr sz="1200" b="0" i="0" dirty="0" err="1">
                <a:solidFill>
                  <a:srgbClr val="DCDCAA"/>
                </a:solidFill>
                <a:latin typeface="Consolas"/>
                <a:ea typeface="Microsoft JhengHei"/>
              </a:rPr>
              <a:t>show</a:t>
            </a:r>
            <a:r>
              <a:rPr sz="1200" b="0" i="0" dirty="0">
                <a:solidFill>
                  <a:srgbClr val="E6E6E6"/>
                </a:solidFill>
                <a:latin typeface="Consolas"/>
                <a:ea typeface="Microsoft JhengHei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1F3A68"/>
                </a:solidFill>
                <a:latin typeface="Microsoft JhengHei"/>
              </a:rPr>
              <a:t>5×5 </a:t>
            </a:r>
            <a:r>
              <a:rPr sz="3000" b="1" dirty="0" err="1">
                <a:solidFill>
                  <a:srgbClr val="1F3A68"/>
                </a:solidFill>
                <a:latin typeface="Microsoft JhengHei"/>
              </a:rPr>
              <a:t>視覺化</a:t>
            </a:r>
            <a:endParaRPr sz="3000" b="1" dirty="0">
              <a:solidFill>
                <a:srgbClr val="1F3A68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30 / 31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769" y="929000"/>
            <a:ext cx="4746045" cy="5000000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640080" y="1371600"/>
            <a:ext cx="4572000" cy="2054793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測試準確率:  99.09%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3,000 步 × batch 32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CPU 約 46 秒</a:t>
            </a:r>
            <a:br>
              <a:rPr lang="en-US"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</a:br>
            <a:endParaRPr lang="en-US" altLang="zh-TW" sz="1500" b="0" i="0" dirty="0">
              <a:solidFill>
                <a:schemeClr val="bg1">
                  <a:lumMod val="50000"/>
                </a:schemeClr>
              </a:solidFill>
              <a:latin typeface="Microsoft JhengHei"/>
              <a:ea typeface="Microsoft JhengHei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altLang="zh-TW"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•  99% </a:t>
            </a:r>
            <a:r>
              <a:rPr lang="zh-TW" altLang="en-US" sz="1700" b="0" i="0" dirty="0">
                <a:solidFill>
                  <a:srgbClr val="222222"/>
                </a:solidFill>
                <a:latin typeface="Microsoft JhengHei"/>
                <a:ea typeface="Microsoft JhengHei"/>
              </a:rPr>
              <a:t>不代表完美</a:t>
            </a:r>
          </a:p>
          <a:p>
            <a:pPr lvl="1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–  </a:t>
            </a:r>
            <a:r>
              <a:rPr sz="1500" b="0" i="0" dirty="0" err="1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看圖才能找到</a:t>
            </a:r>
            <a:r>
              <a:rPr sz="1500" b="0" i="0" dirty="0">
                <a:solidFill>
                  <a:schemeClr val="bg1">
                    <a:lumMod val="50000"/>
                  </a:schemeClr>
                </a:solidFill>
                <a:latin typeface="Microsoft JhengHei"/>
                <a:ea typeface="Microsoft JhengHei"/>
              </a:rPr>
              <a:t> weakness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3000" b="1" i="0">
                <a:solidFill>
                  <a:srgbClr val="1F3A68"/>
                </a:solidFill>
                <a:latin typeface="Microsoft JhengHei"/>
                <a:ea typeface="Microsoft JhengHei"/>
              </a:rPr>
              <a:t>核心概念對照：PyTorch ↔ Flax NNX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88720"/>
            <a:ext cx="8229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概念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PyTorch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Flax NNX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模組定義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class M(nn.Module)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class M(nnx.Module)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參數宣告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nn.Parameter(tensor)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nnx.Param(jax_array)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層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nn.Linear(in, out)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nnx.Linear(in, out, rngs=rngs)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Forward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def forward(self, x)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def __call__(self, x)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建模型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model = M()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model = M(rngs=nnx.Rngs(0))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拿參數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model.parameters()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nnx.state(model, nnx.Param)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反向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loss.backward()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nnx.value_and_grad(loss_fn)(model)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更新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optimizer.step()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optimizer.update(grads)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JIT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torch.compile(model)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@nnx.jit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</a:rPr>
                        <a:t>存檔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torch.save(state_dict)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222"/>
                          </a:solidFill>
                          <a:latin typeface="Consolas"/>
                          <a:ea typeface="Microsoft JhengHei"/>
                        </a:rPr>
                        <a:t>nnx.split(model) → Orbax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46520"/>
            <a:ext cx="777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  <a:ea typeface="Microsoft JhengHei"/>
              </a:rPr>
              <a:t>29 / 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89111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sz="4400" b="1" i="0" dirty="0">
                <a:solidFill>
                  <a:srgbClr val="FFFFFF"/>
                </a:solidFill>
                <a:latin typeface="Microsoft JhengHei"/>
                <a:ea typeface="Microsoft JhengHei"/>
              </a:rPr>
              <a:t>Reference</a:t>
            </a:r>
            <a:endParaRPr sz="4400" b="1" i="0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77240" y="1508760"/>
            <a:ext cx="1051560" cy="0"/>
          </a:xfrm>
          <a:prstGeom prst="line">
            <a:avLst/>
          </a:prstGeom>
          <a:ln w="38100">
            <a:solidFill>
              <a:srgbClr val="E88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Flax 官方文件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FDBEC"/>
                </a:solidFill>
                <a:latin typeface="Consolas"/>
                <a:ea typeface="Microsoft JhengHei"/>
              </a:rPr>
              <a:t>https://flax.readthedocs.io/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NNX 基礎教學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FDBEC"/>
                </a:solidFill>
                <a:latin typeface="Consolas"/>
                <a:ea typeface="Microsoft JhengHei"/>
              </a:rPr>
              <a:t>https://flax.readthedocs.io/en/stable/nnx_basics.html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MNIST 教學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FDBEC"/>
                </a:solidFill>
                <a:latin typeface="Consolas"/>
                <a:ea typeface="Microsoft JhengHei"/>
              </a:rPr>
              <a:t>https://flax.readthedocs.io/en/stable/mnist_tutorial.html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1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為什麼選擇 NNX？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474719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FDBEC"/>
                </a:solidFill>
                <a:latin typeface="Consolas"/>
                <a:ea typeface="Microsoft JhengHei"/>
              </a:rPr>
              <a:t>https://flax.readthedocs.io/en/stable/why.html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2336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FDBEC"/>
                </a:solidFill>
                <a:latin typeface="Consolas"/>
                <a:ea typeface="Microsoft JhengHei"/>
              </a:rPr>
              <a:t>https://github.com/google/flax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26151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 dirty="0">
                <a:solidFill>
                  <a:srgbClr val="E8833A"/>
                </a:solidFill>
                <a:latin typeface="Calibri"/>
                <a:ea typeface="Microsoft JhengHe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3564</Words>
  <Application>Microsoft Office PowerPoint</Application>
  <PresentationFormat>寬螢幕</PresentationFormat>
  <Paragraphs>474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7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至堯 吳</cp:lastModifiedBy>
  <cp:revision>15</cp:revision>
  <dcterms:created xsi:type="dcterms:W3CDTF">2013-01-27T09:14:16Z</dcterms:created>
  <dcterms:modified xsi:type="dcterms:W3CDTF">2026-05-13T01:36:04Z</dcterms:modified>
  <cp:category/>
</cp:coreProperties>
</file>